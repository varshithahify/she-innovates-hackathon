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Lst>
  <p:sldSz cx="18288000" cy="10287000"/>
  <p:notesSz cx="6858000" cy="9144000"/>
  <p:embeddedFontLst>
    <p:embeddedFont>
      <p:font typeface="Archivo Black" panose="020B0604020202020204" charset="0"/>
      <p:regular r:id="rId12"/>
    </p:embeddedFont>
    <p:embeddedFont>
      <p:font typeface="Garet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94622" autoAdjust="0"/>
  </p:normalViewPr>
  <p:slideViewPr>
    <p:cSldViewPr>
      <p:cViewPr varScale="1">
        <p:scale>
          <a:sx n="50" d="100"/>
          <a:sy n="50" d="100"/>
        </p:scale>
        <p:origin x="965" y="43"/>
      </p:cViewPr>
      <p:guideLst>
        <p:guide orient="horz" pos="2160"/>
        <p:guide pos="2880"/>
      </p:guideLst>
    </p:cSldViewPr>
  </p:slideViewPr>
  <p:outlineViewPr>
    <p:cViewPr>
      <p:scale>
        <a:sx n="33" d="100"/>
        <a:sy n="33" d="100"/>
      </p:scale>
      <p:origin x="0" y="0"/>
    </p:cViewPr>
  </p:outlin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58" y="1591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04035" y="202773"/>
            <a:ext cx="4052855" cy="2013257"/>
          </a:xfrm>
          <a:custGeom>
            <a:avLst/>
            <a:gdLst/>
            <a:ahLst/>
            <a:cxnLst/>
            <a:rect l="l" t="t" r="r" b="b"/>
            <a:pathLst>
              <a:path w="4052855" h="2013257">
                <a:moveTo>
                  <a:pt x="0" y="0"/>
                </a:moveTo>
                <a:lnTo>
                  <a:pt x="4052855" y="0"/>
                </a:lnTo>
                <a:lnTo>
                  <a:pt x="4052855" y="2013257"/>
                </a:lnTo>
                <a:lnTo>
                  <a:pt x="0" y="2013257"/>
                </a:lnTo>
                <a:lnTo>
                  <a:pt x="0" y="0"/>
                </a:lnTo>
                <a:close/>
              </a:path>
            </a:pathLst>
          </a:custGeom>
          <a:blipFill>
            <a:blip r:embed="rId5"/>
            <a:stretch>
              <a:fillRect t="-162" b="-162"/>
            </a:stretch>
          </a:blipFill>
        </p:spPr>
        <p:txBody>
          <a:bodyPr/>
          <a:lstStyle/>
          <a:p>
            <a:endParaRPr lang="en-IN"/>
          </a:p>
        </p:txBody>
      </p:sp>
      <p:sp>
        <p:nvSpPr>
          <p:cNvPr id="5" name="Freeform 5"/>
          <p:cNvSpPr/>
          <p:nvPr/>
        </p:nvSpPr>
        <p:spPr>
          <a:xfrm>
            <a:off x="563470" y="7047319"/>
            <a:ext cx="1116986" cy="1438740"/>
          </a:xfrm>
          <a:custGeom>
            <a:avLst/>
            <a:gdLst/>
            <a:ahLst/>
            <a:cxnLst/>
            <a:rect l="l" t="t" r="r" b="b"/>
            <a:pathLst>
              <a:path w="1116986" h="1438740">
                <a:moveTo>
                  <a:pt x="0" y="0"/>
                </a:moveTo>
                <a:lnTo>
                  <a:pt x="1116986" y="0"/>
                </a:lnTo>
                <a:lnTo>
                  <a:pt x="1116986" y="1438740"/>
                </a:lnTo>
                <a:lnTo>
                  <a:pt x="0" y="14387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6426684" y="-360154"/>
            <a:ext cx="6094872" cy="3428365"/>
          </a:xfrm>
          <a:custGeom>
            <a:avLst/>
            <a:gdLst/>
            <a:ahLst/>
            <a:cxnLst/>
            <a:rect l="l" t="t" r="r" b="b"/>
            <a:pathLst>
              <a:path w="6094872" h="3428365">
                <a:moveTo>
                  <a:pt x="0" y="0"/>
                </a:moveTo>
                <a:lnTo>
                  <a:pt x="6094872" y="0"/>
                </a:lnTo>
                <a:lnTo>
                  <a:pt x="6094872" y="3428365"/>
                </a:lnTo>
                <a:lnTo>
                  <a:pt x="0" y="3428365"/>
                </a:lnTo>
                <a:lnTo>
                  <a:pt x="0" y="0"/>
                </a:lnTo>
                <a:close/>
              </a:path>
            </a:pathLst>
          </a:custGeom>
          <a:blipFill>
            <a:blip r:embed="rId8"/>
            <a:stretch>
              <a:fillRect/>
            </a:stretch>
          </a:blipFill>
        </p:spPr>
      </p:sp>
      <p:sp>
        <p:nvSpPr>
          <p:cNvPr id="7" name="Freeform 7"/>
          <p:cNvSpPr/>
          <p:nvPr/>
        </p:nvSpPr>
        <p:spPr>
          <a:xfrm>
            <a:off x="13653200" y="413470"/>
            <a:ext cx="3719644" cy="1754935"/>
          </a:xfrm>
          <a:custGeom>
            <a:avLst/>
            <a:gdLst/>
            <a:ahLst/>
            <a:cxnLst/>
            <a:rect l="l" t="t" r="r" b="b"/>
            <a:pathLst>
              <a:path w="3719644" h="1754935">
                <a:moveTo>
                  <a:pt x="0" y="0"/>
                </a:moveTo>
                <a:lnTo>
                  <a:pt x="3719643" y="0"/>
                </a:lnTo>
                <a:lnTo>
                  <a:pt x="3719643" y="1754935"/>
                </a:lnTo>
                <a:lnTo>
                  <a:pt x="0" y="1754935"/>
                </a:lnTo>
                <a:lnTo>
                  <a:pt x="0" y="0"/>
                </a:lnTo>
                <a:close/>
              </a:path>
            </a:pathLst>
          </a:custGeom>
          <a:blipFill>
            <a:blip r:embed="rId9"/>
            <a:stretch>
              <a:fillRect/>
            </a:stretch>
          </a:blipFill>
        </p:spPr>
      </p:sp>
      <p:sp>
        <p:nvSpPr>
          <p:cNvPr id="8" name="TextBox 8"/>
          <p:cNvSpPr txBox="1"/>
          <p:nvPr/>
        </p:nvSpPr>
        <p:spPr>
          <a:xfrm>
            <a:off x="5486400" y="2779456"/>
            <a:ext cx="9372600" cy="1372620"/>
          </a:xfrm>
          <a:prstGeom prst="rect">
            <a:avLst/>
          </a:prstGeom>
        </p:spPr>
        <p:txBody>
          <a:bodyPr wrap="square" lIns="0" tIns="0" rIns="0" bIns="0" rtlCol="0" anchor="t">
            <a:spAutoFit/>
          </a:bodyPr>
          <a:lstStyle/>
          <a:p>
            <a:pPr>
              <a:lnSpc>
                <a:spcPts val="5192"/>
              </a:lnSpc>
            </a:pPr>
            <a:r>
              <a:rPr lang="en-US" sz="4000" b="1" dirty="0">
                <a:solidFill>
                  <a:srgbClr val="FF0000"/>
                </a:solidFill>
                <a:latin typeface="Times New Roman" panose="02020603050405020304" pitchFamily="18" charset="0"/>
                <a:ea typeface="Archivo Black"/>
                <a:cs typeface="Times New Roman" panose="02020603050405020304" pitchFamily="18" charset="0"/>
                <a:sym typeface="Archivo Black"/>
              </a:rPr>
              <a:t>COLLEGE-LEVEL HACKATHON  2026</a:t>
            </a:r>
          </a:p>
          <a:p>
            <a:pPr marL="0" lvl="0" indent="0" algn="r">
              <a:lnSpc>
                <a:spcPts val="5192"/>
              </a:lnSpc>
            </a:pPr>
            <a:endParaRPr lang="en-US" sz="5769" spc="224" dirty="0">
              <a:solidFill>
                <a:srgbClr val="000000"/>
              </a:solidFill>
              <a:latin typeface="Archivo Black"/>
              <a:ea typeface="Archivo Black"/>
              <a:cs typeface="Archivo Black"/>
              <a:sym typeface="Archivo Black"/>
            </a:endParaRPr>
          </a:p>
        </p:txBody>
      </p:sp>
      <p:sp>
        <p:nvSpPr>
          <p:cNvPr id="9" name="TextBox 9"/>
          <p:cNvSpPr txBox="1"/>
          <p:nvPr/>
        </p:nvSpPr>
        <p:spPr>
          <a:xfrm>
            <a:off x="1188638" y="4601444"/>
            <a:ext cx="12070162" cy="1070742"/>
          </a:xfrm>
          <a:prstGeom prst="rect">
            <a:avLst/>
          </a:prstGeom>
        </p:spPr>
        <p:txBody>
          <a:bodyPr wrap="square" lIns="0" tIns="0" rIns="0" bIns="0" rtlCol="0" anchor="t">
            <a:spAutoFit/>
          </a:bodyPr>
          <a:lstStyle/>
          <a:p>
            <a:pPr lvl="0" algn="just">
              <a:lnSpc>
                <a:spcPts val="4290"/>
              </a:lnSpc>
              <a:spcBef>
                <a:spcPct val="0"/>
              </a:spcBef>
            </a:pPr>
            <a:r>
              <a:rPr lang="en-US" sz="3200" b="1" dirty="0">
                <a:solidFill>
                  <a:srgbClr val="000000"/>
                </a:solidFill>
                <a:latin typeface="Times New Roman" panose="02020603050405020304" pitchFamily="18" charset="0"/>
                <a:ea typeface="Archivo Black"/>
                <a:cs typeface="Times New Roman" panose="02020603050405020304" pitchFamily="18" charset="0"/>
                <a:sym typeface="Archivo Black"/>
              </a:rPr>
              <a:t>PROJECT  TITLE : </a:t>
            </a:r>
            <a:r>
              <a:rPr lang="en-US" sz="3200" dirty="0"/>
              <a:t>Rural Maternal Mortality Due to Lack of Continuous Monitoring</a:t>
            </a:r>
            <a:endParaRPr lang="en-US" sz="3200" b="1" dirty="0">
              <a:solidFill>
                <a:srgbClr val="000000"/>
              </a:solidFill>
              <a:latin typeface="Times New Roman" panose="02020603050405020304" pitchFamily="18" charset="0"/>
              <a:ea typeface="Archivo Black"/>
              <a:cs typeface="Times New Roman" panose="02020603050405020304" pitchFamily="18" charset="0"/>
              <a:sym typeface="Archivo Black"/>
            </a:endParaRPr>
          </a:p>
        </p:txBody>
      </p:sp>
      <p:sp>
        <p:nvSpPr>
          <p:cNvPr id="10" name="TextBox 10"/>
          <p:cNvSpPr txBox="1"/>
          <p:nvPr/>
        </p:nvSpPr>
        <p:spPr>
          <a:xfrm>
            <a:off x="1188638" y="5981730"/>
            <a:ext cx="10773446" cy="551433"/>
          </a:xfrm>
          <a:prstGeom prst="rect">
            <a:avLst/>
          </a:prstGeom>
        </p:spPr>
        <p:txBody>
          <a:bodyPr lIns="0" tIns="0" rIns="0" bIns="0" rtlCol="0" anchor="t">
            <a:spAutoFit/>
          </a:bodyPr>
          <a:lstStyle/>
          <a:p>
            <a:pPr marL="0" lvl="0" indent="0" algn="just">
              <a:lnSpc>
                <a:spcPts val="4290"/>
              </a:lnSpc>
              <a:spcBef>
                <a:spcPct val="0"/>
              </a:spcBef>
            </a:pPr>
            <a:r>
              <a:rPr lang="en-US" sz="3600" b="1" dirty="0">
                <a:solidFill>
                  <a:srgbClr val="000000"/>
                </a:solidFill>
                <a:latin typeface="Times New Roman" panose="02020603050405020304" pitchFamily="18" charset="0"/>
                <a:ea typeface="Archivo Black"/>
                <a:cs typeface="Times New Roman" panose="02020603050405020304" pitchFamily="18" charset="0"/>
                <a:sym typeface="Archivo Black"/>
              </a:rPr>
              <a:t>PARTICIPANT NAME : V N Varshitha</a:t>
            </a:r>
          </a:p>
        </p:txBody>
      </p:sp>
      <p:sp>
        <p:nvSpPr>
          <p:cNvPr id="11" name="TextBox 11"/>
          <p:cNvSpPr txBox="1"/>
          <p:nvPr/>
        </p:nvSpPr>
        <p:spPr>
          <a:xfrm>
            <a:off x="1905000" y="8191500"/>
            <a:ext cx="5140789" cy="870431"/>
          </a:xfrm>
          <a:prstGeom prst="rect">
            <a:avLst/>
          </a:prstGeom>
        </p:spPr>
        <p:txBody>
          <a:bodyPr wrap="square" lIns="0" tIns="0" rIns="0" bIns="0" rtlCol="0" anchor="t">
            <a:spAutoFit/>
          </a:bodyPr>
          <a:lstStyle/>
          <a:p>
            <a:pPr algn="ctr">
              <a:lnSpc>
                <a:spcPts val="8270"/>
              </a:lnSpc>
            </a:pPr>
            <a:r>
              <a:rPr lang="en-US" sz="2400" b="1" dirty="0">
                <a:solidFill>
                  <a:srgbClr val="000000"/>
                </a:solidFill>
                <a:latin typeface="Times New Roman" panose="02020603050405020304" pitchFamily="18" charset="0"/>
                <a:ea typeface="Archivo Black"/>
                <a:cs typeface="Times New Roman" panose="02020603050405020304" pitchFamily="18" charset="0"/>
                <a:sym typeface="Archivo Black"/>
              </a:rPr>
              <a:t>Date:26-02-2026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808355" y="804440"/>
            <a:ext cx="13836796" cy="743793"/>
          </a:xfrm>
          <a:prstGeom prst="rect">
            <a:avLst/>
          </a:prstGeom>
        </p:spPr>
        <p:txBody>
          <a:bodyPr lIns="0" tIns="0" rIns="0" bIns="0" rtlCol="0" anchor="t">
            <a:spAutoFit/>
          </a:bodyPr>
          <a:lstStyle/>
          <a:p>
            <a:pPr marL="0" lvl="0" indent="0" algn="l">
              <a:lnSpc>
                <a:spcPts val="5808"/>
              </a:lnSpc>
              <a:spcBef>
                <a:spcPct val="0"/>
              </a:spcBef>
            </a:pPr>
            <a:r>
              <a:rPr lang="en-US" sz="5808" b="1" u="sng" dirty="0">
                <a:solidFill>
                  <a:schemeClr val="tx2"/>
                </a:solidFill>
                <a:latin typeface="Times New Roman" panose="02020603050405020304" pitchFamily="18" charset="0"/>
                <a:ea typeface="Archivo Black"/>
                <a:cs typeface="Times New Roman" panose="02020603050405020304" pitchFamily="18" charset="0"/>
                <a:sym typeface="Archivo Black"/>
              </a:rPr>
              <a:t>Problem Statement </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02/11</a:t>
            </a:r>
          </a:p>
        </p:txBody>
      </p:sp>
      <p:sp>
        <p:nvSpPr>
          <p:cNvPr id="10" name="TextBox 10"/>
          <p:cNvSpPr txBox="1"/>
          <p:nvPr/>
        </p:nvSpPr>
        <p:spPr>
          <a:xfrm>
            <a:off x="457200" y="1724868"/>
            <a:ext cx="17830800" cy="7283212"/>
          </a:xfrm>
          <a:prstGeom prst="rect">
            <a:avLst/>
          </a:prstGeom>
        </p:spPr>
        <p:txBody>
          <a:bodyPr wrap="square" lIns="0" tIns="0" rIns="0" bIns="0" rtlCol="0" anchor="t">
            <a:spAutoFit/>
          </a:bodyPr>
          <a:lstStyle/>
          <a:p>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What exact problem are you solving?</a:t>
            </a:r>
          </a:p>
          <a:p>
            <a:pPr marL="342900" indent="-342900" algn="just">
              <a:buFont typeface="Wingdings" panose="05000000000000000000" pitchFamily="2" charset="2"/>
              <a:buChar char="Ø"/>
            </a:pPr>
            <a:r>
              <a:rPr lang="en-US" sz="2400" dirty="0"/>
              <a:t>Lack of continuous monitoring of pregnant women in rural areas</a:t>
            </a:r>
          </a:p>
          <a:p>
            <a:pPr marL="342900" indent="-342900" algn="just">
              <a:buFont typeface="Wingdings" panose="05000000000000000000" pitchFamily="2" charset="2"/>
              <a:buChar char="Ø"/>
            </a:pPr>
            <a:r>
              <a:rPr lang="en-US" sz="2400" dirty="0"/>
              <a:t>Late detection of complications like preeclampsia and hypertension</a:t>
            </a:r>
          </a:p>
          <a:p>
            <a:pPr marL="342900" indent="-342900" algn="just">
              <a:buFont typeface="Wingdings" panose="05000000000000000000" pitchFamily="2" charset="2"/>
              <a:buChar char="Ø"/>
            </a:pPr>
            <a:r>
              <a:rPr lang="en-US" sz="2400" dirty="0"/>
              <a:t>No predictive system to warn before a medical emergency</a:t>
            </a:r>
          </a:p>
          <a:p>
            <a:pPr marL="342900" indent="-342900" algn="just">
              <a:buFont typeface="Wingdings" panose="05000000000000000000" pitchFamily="2" charset="2"/>
              <a:buChar char="Ø"/>
            </a:pPr>
            <a:r>
              <a:rPr lang="en-US" sz="2400" dirty="0"/>
              <a:t>Dependence on occasional hospital visits instead of real-time tracking</a:t>
            </a:r>
          </a:p>
          <a:p>
            <a:pPr algn="just"/>
            <a:endParaRPr lang="en-US" sz="2400" b="1" dirty="0"/>
          </a:p>
          <a:p>
            <a:pPr algn="just"/>
            <a:r>
              <a:rPr lang="en-US" sz="2800" b="1" dirty="0">
                <a:latin typeface="Times New Roman" panose="02020603050405020304" pitchFamily="18" charset="0"/>
                <a:cs typeface="Times New Roman" panose="02020603050405020304" pitchFamily="18" charset="0"/>
              </a:rPr>
              <a:t>For whom is this a problem?</a:t>
            </a:r>
          </a:p>
          <a:p>
            <a:pPr marL="342900" indent="-342900" algn="just">
              <a:buFont typeface="Wingdings" panose="05000000000000000000" pitchFamily="2" charset="2"/>
              <a:buChar char="Ø"/>
            </a:pPr>
            <a:r>
              <a:rPr lang="en-US" sz="2400" dirty="0"/>
              <a:t>Pregnant women in rural and remote regions</a:t>
            </a:r>
          </a:p>
          <a:p>
            <a:pPr marL="342900" indent="-342900" algn="just">
              <a:buFont typeface="Wingdings" panose="05000000000000000000" pitchFamily="2" charset="2"/>
              <a:buChar char="Ø"/>
            </a:pPr>
            <a:r>
              <a:rPr lang="en-US" sz="2400" dirty="0"/>
              <a:t>Families with limited access to healthcare facilities</a:t>
            </a:r>
          </a:p>
          <a:p>
            <a:pPr marL="342900" indent="-342900" algn="just">
              <a:buFont typeface="Wingdings" panose="05000000000000000000" pitchFamily="2" charset="2"/>
              <a:buChar char="Ø"/>
            </a:pPr>
            <a:r>
              <a:rPr lang="en-US" sz="2400" dirty="0"/>
              <a:t>ASHA workers and primary health centers lacking advanced tools</a:t>
            </a:r>
          </a:p>
          <a:p>
            <a:pPr marL="342900" indent="-342900" algn="just">
              <a:buFont typeface="Wingdings" panose="05000000000000000000" pitchFamily="2" charset="2"/>
              <a:buChar char="Ø"/>
            </a:pPr>
            <a:r>
              <a:rPr lang="en-US" sz="2400" dirty="0"/>
              <a:t>Healthcare systems facing high maternal mortality rates</a:t>
            </a:r>
          </a:p>
          <a:p>
            <a:pPr algn="just"/>
            <a:endParaRPr lang="en-US" sz="2400" b="1" dirty="0"/>
          </a:p>
          <a:p>
            <a:pPr algn="just"/>
            <a:r>
              <a:rPr lang="en-US" sz="2800" b="1" dirty="0">
                <a:latin typeface="Times New Roman" panose="02020603050405020304" pitchFamily="18" charset="0"/>
                <a:cs typeface="Times New Roman" panose="02020603050405020304" pitchFamily="18" charset="0"/>
              </a:rPr>
              <a:t>Why does this problem matter now?</a:t>
            </a:r>
          </a:p>
          <a:p>
            <a:pPr marL="342900" indent="-342900" algn="just">
              <a:buFont typeface="Wingdings" panose="05000000000000000000" pitchFamily="2" charset="2"/>
              <a:buChar char="Ø"/>
            </a:pPr>
            <a:r>
              <a:rPr lang="en-US" sz="2400" dirty="0"/>
              <a:t>Maternal mortality is still high in underserved areas</a:t>
            </a:r>
          </a:p>
          <a:p>
            <a:pPr marL="342900" indent="-342900" algn="just">
              <a:buFont typeface="Wingdings" panose="05000000000000000000" pitchFamily="2" charset="2"/>
              <a:buChar char="Ø"/>
            </a:pPr>
            <a:r>
              <a:rPr lang="en-US" sz="2400" dirty="0"/>
              <a:t>Many complications are preventable with early detection</a:t>
            </a:r>
          </a:p>
          <a:p>
            <a:pPr marL="342900" indent="-342900" algn="just">
              <a:buFont typeface="Wingdings" panose="05000000000000000000" pitchFamily="2" charset="2"/>
              <a:buChar char="Ø"/>
            </a:pPr>
            <a:r>
              <a:rPr lang="en-US" sz="2400" dirty="0"/>
              <a:t>IoT and AI technology now make real-time monitoring affordable</a:t>
            </a:r>
          </a:p>
          <a:p>
            <a:pPr marL="342900" indent="-342900" algn="just">
              <a:buFont typeface="Wingdings" panose="05000000000000000000" pitchFamily="2" charset="2"/>
              <a:buChar char="Ø"/>
            </a:pPr>
            <a:r>
              <a:rPr lang="en-US" sz="2400" dirty="0"/>
              <a:t>Preventive healthcare is more effective than emergency treatment</a:t>
            </a:r>
          </a:p>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2745170" y="842540"/>
            <a:ext cx="14439833" cy="785705"/>
          </a:xfrm>
          <a:prstGeom prst="rect">
            <a:avLst/>
          </a:prstGeom>
        </p:spPr>
        <p:txBody>
          <a:bodyPr lIns="0" tIns="0" rIns="0" bIns="0" rtlCol="0" anchor="t">
            <a:spAutoFit/>
          </a:bodyPr>
          <a:lstStyle/>
          <a:p>
            <a:pPr marL="0" lvl="0" indent="0" algn="r">
              <a:lnSpc>
                <a:spcPts val="5808"/>
              </a:lnSpc>
              <a:spcBef>
                <a:spcPct val="0"/>
              </a:spcBef>
            </a:pPr>
            <a:r>
              <a:rPr lang="en-US" sz="5808" u="sng" spc="-458" dirty="0">
                <a:solidFill>
                  <a:srgbClr val="000000"/>
                </a:solidFill>
                <a:latin typeface="Archivo Black"/>
                <a:ea typeface="Archivo Black"/>
                <a:cs typeface="Archivo Black"/>
                <a:sym typeface="Archivo Black"/>
              </a:rPr>
              <a:t>Proposed solution &amp; innovation</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03/11</a:t>
            </a:r>
          </a:p>
        </p:txBody>
      </p:sp>
      <p:sp>
        <p:nvSpPr>
          <p:cNvPr id="9" name="TextBox 9"/>
          <p:cNvSpPr txBox="1"/>
          <p:nvPr/>
        </p:nvSpPr>
        <p:spPr>
          <a:xfrm>
            <a:off x="845304" y="2276276"/>
            <a:ext cx="16833096" cy="6544549"/>
          </a:xfrm>
          <a:prstGeom prst="rect">
            <a:avLst/>
          </a:prstGeom>
        </p:spPr>
        <p:txBody>
          <a:bodyPr wrap="square" lIns="0" tIns="0" rIns="0" bIns="0" rtlCol="0" anchor="t">
            <a:spAutoFit/>
          </a:bodyPr>
          <a:lstStyle/>
          <a:p>
            <a:pPr algn="just"/>
            <a:r>
              <a:rPr lang="en-US" sz="3200" b="1" dirty="0">
                <a:latin typeface="Times New Roman" panose="02020603050405020304" pitchFamily="18" charset="0"/>
                <a:cs typeface="Times New Roman" panose="02020603050405020304" pitchFamily="18" charset="0"/>
              </a:rPr>
              <a:t>Proposed Solution</a:t>
            </a:r>
          </a:p>
          <a:p>
            <a:pPr algn="just"/>
            <a:r>
              <a:rPr lang="en-US" sz="2800" dirty="0">
                <a:latin typeface="Times New Roman" panose="02020603050405020304" pitchFamily="18" charset="0"/>
                <a:cs typeface="Times New Roman" panose="02020603050405020304" pitchFamily="18" charset="0"/>
              </a:rPr>
              <a:t>We propose an AI-based Smart Maternal Health Monitoring System that continuously tracks vital health parameters of pregnant women using wearable sensors. The system collects real-time data such as blood pressure, heart rate, oxygen levels, and temperature through an embedded device (e.g., ESP32-based module). This data is transmitted to a cloud platform where an AI model analyzes trends and predicts potential risks such as preeclampsia or sudden hypertension. If abnormal patterns are detected, the system immediately sends alerts to the pregnant woman, family members, and nearby healthcare workers for timely intervention.</a:t>
            </a:r>
          </a:p>
          <a:p>
            <a:pPr algn="just"/>
            <a:br>
              <a:rPr lang="en-US" sz="28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What Makes It Better?</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It provides continuous real-time monitoring instead of occasional hospital checkups.</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It uses predictive AI to detect risks before they become emergencies.</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It is designed specifically for rural and low-resource settings with low-cost hardware.</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It enables early intervention, reducing maternal and infant mortality.</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It shifts healthcare from reactive treatment to proactive prevention.</a:t>
            </a:r>
          </a:p>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12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762000" y="842540"/>
            <a:ext cx="6476967" cy="1508618"/>
          </a:xfrm>
          <a:prstGeom prst="rect">
            <a:avLst/>
          </a:prstGeom>
        </p:spPr>
        <p:txBody>
          <a:bodyPr wrap="square" lIns="0" tIns="0" rIns="0" bIns="0" rtlCol="0" anchor="t">
            <a:spAutoFit/>
          </a:bodyPr>
          <a:lstStyle/>
          <a:p>
            <a:pPr marL="0" lvl="0" indent="0" algn="r">
              <a:lnSpc>
                <a:spcPts val="5808"/>
              </a:lnSpc>
              <a:spcBef>
                <a:spcPct val="0"/>
              </a:spcBef>
            </a:pPr>
            <a:r>
              <a:rPr lang="en-US" sz="5808" u="sng" spc="-458" dirty="0">
                <a:solidFill>
                  <a:srgbClr val="000000"/>
                </a:solidFill>
                <a:latin typeface="Archivo Black"/>
                <a:ea typeface="Archivo Black"/>
                <a:cs typeface="Archivo Black"/>
                <a:sym typeface="Archivo Black"/>
              </a:rPr>
              <a:t>Target Customers</a:t>
            </a:r>
          </a:p>
          <a:p>
            <a:pPr marL="0" lvl="0" indent="0" algn="r">
              <a:lnSpc>
                <a:spcPts val="5808"/>
              </a:lnSpc>
              <a:spcBef>
                <a:spcPct val="0"/>
              </a:spcBef>
            </a:pPr>
            <a:endParaRPr lang="en-US" sz="5808" u="sng" spc="-458" dirty="0">
              <a:solidFill>
                <a:srgbClr val="000000"/>
              </a:solidFill>
              <a:latin typeface="Archivo Black"/>
              <a:ea typeface="Archivo Black"/>
              <a:cs typeface="Archivo Black"/>
              <a:sym typeface="Archivo Black"/>
            </a:endParaRP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04/11</a:t>
            </a:r>
          </a:p>
        </p:txBody>
      </p:sp>
      <p:sp>
        <p:nvSpPr>
          <p:cNvPr id="10" name="Rectangle 2">
            <a:extLst>
              <a:ext uri="{FF2B5EF4-FFF2-40B4-BE49-F238E27FC236}">
                <a16:creationId xmlns:a16="http://schemas.microsoft.com/office/drawing/2014/main" id="{A5F4BE4A-7E68-C3AE-7BD5-0C074E4D2E6F}"/>
              </a:ext>
            </a:extLst>
          </p:cNvPr>
          <p:cNvSpPr>
            <a:spLocks noChangeArrowheads="1"/>
          </p:cNvSpPr>
          <p:nvPr/>
        </p:nvSpPr>
        <p:spPr bwMode="auto">
          <a:xfrm>
            <a:off x="762000" y="1602564"/>
            <a:ext cx="929643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Government health departments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Rural hospitals and primary healthcare centers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Telemedicine service providers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health organizations and maternity clinics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NGOs working in maternal and child health</a:t>
            </a:r>
          </a:p>
        </p:txBody>
      </p:sp>
      <p:sp>
        <p:nvSpPr>
          <p:cNvPr id="14" name="TextBox 13">
            <a:extLst>
              <a:ext uri="{FF2B5EF4-FFF2-40B4-BE49-F238E27FC236}">
                <a16:creationId xmlns:a16="http://schemas.microsoft.com/office/drawing/2014/main" id="{397F7A5F-FFA0-90A7-89BE-D6841164BE90}"/>
              </a:ext>
            </a:extLst>
          </p:cNvPr>
          <p:cNvSpPr txBox="1"/>
          <p:nvPr/>
        </p:nvSpPr>
        <p:spPr>
          <a:xfrm>
            <a:off x="975360" y="4454964"/>
            <a:ext cx="3352800"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Target Users</a:t>
            </a:r>
            <a:endParaRPr lang="en-IN" sz="3200" b="1" u="sng" dirty="0">
              <a:latin typeface="Times New Roman" panose="02020603050405020304" pitchFamily="18" charset="0"/>
              <a:cs typeface="Times New Roman" panose="02020603050405020304" pitchFamily="18" charset="0"/>
            </a:endParaRPr>
          </a:p>
        </p:txBody>
      </p:sp>
      <p:sp>
        <p:nvSpPr>
          <p:cNvPr id="15" name="Rectangle 3">
            <a:extLst>
              <a:ext uri="{FF2B5EF4-FFF2-40B4-BE49-F238E27FC236}">
                <a16:creationId xmlns:a16="http://schemas.microsoft.com/office/drawing/2014/main" id="{A488EBFD-3D38-89E4-2C62-C61E7BE03C3C}"/>
              </a:ext>
            </a:extLst>
          </p:cNvPr>
          <p:cNvSpPr>
            <a:spLocks noChangeArrowheads="1"/>
          </p:cNvSpPr>
          <p:nvPr/>
        </p:nvSpPr>
        <p:spPr bwMode="auto">
          <a:xfrm>
            <a:off x="944880" y="5337594"/>
            <a:ext cx="12344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pregnant women requiring continuous monitoring</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ASHA workers and community health workers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Health Centers (PHCs)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Government maternal healthcare programs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Pregnant women in rural and semi-urban areas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921676" y="842540"/>
            <a:ext cx="12134104" cy="785705"/>
          </a:xfrm>
          <a:prstGeom prst="rect">
            <a:avLst/>
          </a:prstGeom>
        </p:spPr>
        <p:txBody>
          <a:bodyPr lIns="0" tIns="0" rIns="0" bIns="0" rtlCol="0" anchor="t">
            <a:spAutoFit/>
          </a:bodyPr>
          <a:lstStyle/>
          <a:p>
            <a:pPr marL="0" lvl="0" indent="0" algn="l">
              <a:lnSpc>
                <a:spcPts val="5808"/>
              </a:lnSpc>
              <a:spcBef>
                <a:spcPct val="0"/>
              </a:spcBef>
            </a:pPr>
            <a:r>
              <a:rPr lang="en-US" sz="5808" u="sng" spc="-458" dirty="0">
                <a:solidFill>
                  <a:srgbClr val="000000"/>
                </a:solidFill>
                <a:latin typeface="Archivo Black"/>
                <a:ea typeface="Archivo Black"/>
                <a:cs typeface="Archivo Black"/>
                <a:sym typeface="Archivo Black"/>
              </a:rPr>
              <a:t>Competitor Analysis</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05/11</a:t>
            </a:r>
          </a:p>
        </p:txBody>
      </p:sp>
      <p:sp>
        <p:nvSpPr>
          <p:cNvPr id="8" name="TextBox 8"/>
          <p:cNvSpPr txBox="1"/>
          <p:nvPr/>
        </p:nvSpPr>
        <p:spPr>
          <a:xfrm>
            <a:off x="685800" y="1628245"/>
            <a:ext cx="16916400" cy="8576387"/>
          </a:xfrm>
          <a:prstGeom prst="rect">
            <a:avLst/>
          </a:prstGeom>
        </p:spPr>
        <p:txBody>
          <a:bodyPr wrap="square" lIns="0" tIns="0" rIns="0" bIns="0" rtlCol="0" anchor="t">
            <a:spAutoFit/>
          </a:bodyPr>
          <a:lstStyle/>
          <a:p>
            <a:pPr algn="just"/>
            <a:r>
              <a:rPr lang="en-US" sz="2800" b="1" dirty="0">
                <a:latin typeface="Times New Roman" panose="02020603050405020304" pitchFamily="18" charset="0"/>
                <a:cs typeface="Times New Roman" panose="02020603050405020304" pitchFamily="18" charset="0"/>
              </a:rPr>
              <a:t>Are there competitors solving this?</a:t>
            </a:r>
          </a:p>
          <a:p>
            <a:pPr algn="just"/>
            <a:r>
              <a:rPr lang="en-US" sz="2800" dirty="0">
                <a:latin typeface="Times New Roman" panose="02020603050405020304" pitchFamily="18" charset="0"/>
                <a:cs typeface="Times New Roman" panose="02020603050405020304" pitchFamily="18" charset="0"/>
              </a:rPr>
              <a:t>Yes, there are existing maternal health monitoring solutions such as hospital-grade fetal monitors, wearable pregnancy trackers, and telemedicine platforms. Some private health-tech companies provide remote monitoring devices, and government programs offer periodic checkups through primary health centers. However, most of these solutions are either expensive, urban-focused, or limited to basic monitoring without predictive intelligence.</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Existing Solutions &amp; Their Limitations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Hospital fetal monitors require clinical settings and cannot provide continuous home-based monitoring.</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Basic wearable devices track vitals but do not use AI to predict future complications.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Telemedicine platforms depend on manual reporting and internet connectivity.</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Government rural programs rely on periodic visits, not real-time tracking.</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Many solutions are costly and not designed for low-resource rural environments.</a:t>
            </a:r>
          </a:p>
          <a:p>
            <a:pPr algn="just"/>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Our Advantages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Continuous real-time monitoring through low-cost embedded hardware.</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AI-based predictive analysis to detect risk before complications become severe.</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Designed specifically for rural and low-bandwidth settings.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Instant alert system for family members and healthcare workers.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Scalable and affordable for government and NGO deployment.</a:t>
            </a:r>
          </a:p>
          <a:p>
            <a:pPr algn="just">
              <a:lnSpc>
                <a:spcPts val="3338"/>
              </a:lnSpc>
              <a:spcBef>
                <a:spcPct val="0"/>
              </a:spcBef>
            </a:pPr>
            <a:endParaRPr lang="en-US" sz="2400" spc="93"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0" name="TextBox 10"/>
          <p:cNvSpPr txBox="1"/>
          <p:nvPr/>
        </p:nvSpPr>
        <p:spPr>
          <a:xfrm>
            <a:off x="-4198833" y="3090347"/>
            <a:ext cx="13234605" cy="389017"/>
          </a:xfrm>
          <a:prstGeom prst="rect">
            <a:avLst/>
          </a:prstGeom>
        </p:spPr>
        <p:txBody>
          <a:bodyPr lIns="0" tIns="0" rIns="0" bIns="0" rtlCol="0" anchor="t">
            <a:spAutoFit/>
          </a:bodyPr>
          <a:lstStyle/>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6" name="TextBox 6"/>
          <p:cNvSpPr txBox="1"/>
          <p:nvPr/>
        </p:nvSpPr>
        <p:spPr>
          <a:xfrm>
            <a:off x="914858" y="1169670"/>
            <a:ext cx="7279037" cy="785705"/>
          </a:xfrm>
          <a:prstGeom prst="rect">
            <a:avLst/>
          </a:prstGeom>
        </p:spPr>
        <p:txBody>
          <a:bodyPr lIns="0" tIns="0" rIns="0" bIns="0" rtlCol="0" anchor="t">
            <a:spAutoFit/>
          </a:bodyPr>
          <a:lstStyle/>
          <a:p>
            <a:pPr marL="0" lvl="0" indent="0" algn="l">
              <a:lnSpc>
                <a:spcPts val="5808"/>
              </a:lnSpc>
              <a:spcBef>
                <a:spcPct val="0"/>
              </a:spcBef>
            </a:pPr>
            <a:r>
              <a:rPr lang="en-US" sz="5808" u="sng" spc="-458" dirty="0">
                <a:solidFill>
                  <a:srgbClr val="000000"/>
                </a:solidFill>
                <a:latin typeface="Archivo Black"/>
                <a:ea typeface="Archivo Black"/>
                <a:cs typeface="Archivo Black"/>
                <a:sym typeface="Archivo Black"/>
              </a:rPr>
              <a:t>Value Proposition</a:t>
            </a:r>
          </a:p>
        </p:txBody>
      </p:sp>
      <p:sp>
        <p:nvSpPr>
          <p:cNvPr id="7" name="TextBox 7"/>
          <p:cNvSpPr txBox="1"/>
          <p:nvPr/>
        </p:nvSpPr>
        <p:spPr>
          <a:xfrm>
            <a:off x="14382445" y="981075"/>
            <a:ext cx="2876855"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06/11</a:t>
            </a:r>
          </a:p>
        </p:txBody>
      </p:sp>
      <p:sp>
        <p:nvSpPr>
          <p:cNvPr id="11" name="Rectangle 1">
            <a:extLst>
              <a:ext uri="{FF2B5EF4-FFF2-40B4-BE49-F238E27FC236}">
                <a16:creationId xmlns:a16="http://schemas.microsoft.com/office/drawing/2014/main" id="{31590F41-254B-4671-9268-57B1067D7F92}"/>
              </a:ext>
            </a:extLst>
          </p:cNvPr>
          <p:cNvSpPr>
            <a:spLocks noChangeArrowheads="1"/>
          </p:cNvSpPr>
          <p:nvPr/>
        </p:nvSpPr>
        <p:spPr bwMode="auto">
          <a:xfrm>
            <a:off x="914858" y="2171700"/>
            <a:ext cx="1059899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prediction of pregnancy complications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emergency alerts to healthcare workers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for rural and low-resource settings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and scalable solution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maternal and infant mortality risk</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Prevents emergency hospitalizations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proactive instead of reactive healthcare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peace of mind to families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Data-driven decision support for doctors and ASHA workers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real-time monitoring at home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lvl="2"/>
            <a:r>
              <a:rPr lang="en-US" sz="3200" b="1" u="sng" dirty="0">
                <a:latin typeface="Times New Roman" panose="02020603050405020304" pitchFamily="18" charset="0"/>
                <a:cs typeface="Times New Roman" panose="02020603050405020304" pitchFamily="18" charset="0"/>
              </a:rPr>
              <a:t>Difference AI Makes</a:t>
            </a:r>
          </a:p>
          <a:p>
            <a:pPr marL="1428750" lvl="2" indent="-514350" algn="just">
              <a:buFont typeface="+mj-lt"/>
              <a:buAutoNum type="arabicParenR"/>
            </a:pPr>
            <a:r>
              <a:rPr lang="en-US" sz="2800" dirty="0">
                <a:latin typeface="Times New Roman" panose="02020603050405020304" pitchFamily="18" charset="0"/>
                <a:cs typeface="Times New Roman" panose="02020603050405020304" pitchFamily="18" charset="0"/>
              </a:rPr>
              <a:t>Shifts system from reactive to predictive healthcare</a:t>
            </a:r>
          </a:p>
          <a:p>
            <a:pPr marL="1428750" lvl="2" indent="-514350" algn="just">
              <a:buFont typeface="+mj-lt"/>
              <a:buAutoNum type="arabicParenR"/>
            </a:pPr>
            <a:r>
              <a:rPr lang="en-US" sz="2800" dirty="0">
                <a:latin typeface="Times New Roman" panose="02020603050405020304" pitchFamily="18" charset="0"/>
                <a:cs typeface="Times New Roman" panose="02020603050405020304" pitchFamily="18" charset="0"/>
              </a:rPr>
              <a:t>Identifies hidden risk trends not visible in single checkups</a:t>
            </a:r>
          </a:p>
          <a:p>
            <a:pPr marL="1428750" lvl="2" indent="-514350" algn="just">
              <a:buFont typeface="+mj-lt"/>
              <a:buAutoNum type="arabicParenR"/>
            </a:pPr>
            <a:r>
              <a:rPr lang="en-US" sz="2800" dirty="0">
                <a:latin typeface="Times New Roman" panose="02020603050405020304" pitchFamily="18" charset="0"/>
                <a:cs typeface="Times New Roman" panose="02020603050405020304" pitchFamily="18" charset="0"/>
              </a:rPr>
              <a:t>Provides continuous monitoring instead of periodic testing</a:t>
            </a:r>
          </a:p>
          <a:p>
            <a:pPr marL="1428750" lvl="2" indent="-514350" algn="just">
              <a:buFont typeface="+mj-lt"/>
              <a:buAutoNum type="arabicParenR"/>
            </a:pPr>
            <a:r>
              <a:rPr lang="en-US" sz="2800" dirty="0">
                <a:latin typeface="Times New Roman" panose="02020603050405020304" pitchFamily="18" charset="0"/>
                <a:cs typeface="Times New Roman" panose="02020603050405020304" pitchFamily="18" charset="0"/>
              </a:rPr>
              <a:t>Reduces human error in risk assessment</a:t>
            </a:r>
          </a:p>
          <a:p>
            <a:pPr lvl="2" algn="just"/>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2"/>
            <a:r>
              <a:rPr lang="en-US" sz="3200" b="1" u="sng" dirty="0">
                <a:latin typeface="Times New Roman" panose="02020603050405020304" pitchFamily="18" charset="0"/>
                <a:cs typeface="Times New Roman" panose="02020603050405020304" pitchFamily="18" charset="0"/>
              </a:rPr>
              <a:t>Social Impact on Efficiency</a:t>
            </a:r>
          </a:p>
          <a:p>
            <a:pPr marL="1428750" lvl="2" indent="-514350">
              <a:buFont typeface="+mj-lt"/>
              <a:buAutoNum type="arabicParenR"/>
            </a:pPr>
            <a:r>
              <a:rPr lang="en-US" sz="2800" dirty="0">
                <a:latin typeface="Times New Roman" panose="02020603050405020304" pitchFamily="18" charset="0"/>
                <a:cs typeface="Times New Roman" panose="02020603050405020304" pitchFamily="18" charset="0"/>
              </a:rPr>
              <a:t>Lowers maternal and infant mortality rates</a:t>
            </a:r>
          </a:p>
          <a:p>
            <a:pPr marL="1428750" lvl="2" indent="-514350">
              <a:buFont typeface="+mj-lt"/>
              <a:buAutoNum type="arabicParenR"/>
            </a:pPr>
            <a:r>
              <a:rPr lang="en-US" sz="2800" dirty="0">
                <a:latin typeface="Times New Roman" panose="02020603050405020304" pitchFamily="18" charset="0"/>
                <a:cs typeface="Times New Roman" panose="02020603050405020304" pitchFamily="18" charset="0"/>
              </a:rPr>
              <a:t>Improves access to healthcare in rural areas</a:t>
            </a:r>
          </a:p>
          <a:p>
            <a:pPr marL="1428750" lvl="2" indent="-514350">
              <a:buFont typeface="+mj-lt"/>
              <a:buAutoNum type="arabicParenR"/>
            </a:pPr>
            <a:r>
              <a:rPr lang="en-US" sz="2800" dirty="0">
                <a:latin typeface="Times New Roman" panose="02020603050405020304" pitchFamily="18" charset="0"/>
                <a:cs typeface="Times New Roman" panose="02020603050405020304" pitchFamily="18" charset="0"/>
              </a:rPr>
              <a:t>Reduces emergency medical costs</a:t>
            </a:r>
          </a:p>
          <a:p>
            <a:pPr marL="1428750" lvl="2" indent="-514350">
              <a:buFont typeface="+mj-lt"/>
              <a:buAutoNum type="arabicParenR"/>
            </a:pPr>
            <a:r>
              <a:rPr lang="en-US" sz="2800" dirty="0">
                <a:latin typeface="Times New Roman" panose="02020603050405020304" pitchFamily="18" charset="0"/>
                <a:cs typeface="Times New Roman" panose="02020603050405020304" pitchFamily="18" charset="0"/>
              </a:rPr>
              <a:t>Strengthens rural public health systems</a:t>
            </a:r>
          </a:p>
          <a:p>
            <a:pPr marL="1428750" lvl="2" indent="-514350">
              <a:buFont typeface="+mj-lt"/>
              <a:buAutoNum type="arabicParenR"/>
            </a:pPr>
            <a:r>
              <a:rPr lang="en-US" sz="2800" dirty="0">
                <a:latin typeface="Times New Roman" panose="02020603050405020304" pitchFamily="18" charset="0"/>
                <a:cs typeface="Times New Roman" panose="02020603050405020304" pitchFamily="18" charset="0"/>
              </a:rPr>
              <a:t>Increases trust in technology-driven healthcare solutions</a:t>
            </a:r>
            <a:endParaRPr lang="en-US" dirty="0">
              <a:latin typeface="Times New Roman" panose="02020603050405020304" pitchFamily="18" charset="0"/>
              <a:cs typeface="Times New Roman" panose="02020603050405020304" pitchFamily="18" charset="0"/>
            </a:endParaRPr>
          </a:p>
        </p:txBody>
      </p:sp>
      <p:sp>
        <p:nvSpPr>
          <p:cNvPr id="3" name="TextBox 3"/>
          <p:cNvSpPr txBox="1"/>
          <p:nvPr/>
        </p:nvSpPr>
        <p:spPr>
          <a:xfrm>
            <a:off x="874634" y="713788"/>
            <a:ext cx="15279765" cy="880306"/>
          </a:xfrm>
          <a:prstGeom prst="rect">
            <a:avLst/>
          </a:prstGeom>
        </p:spPr>
        <p:txBody>
          <a:bodyPr wrap="square" lIns="0" tIns="0" rIns="0" bIns="0" rtlCol="0" anchor="t">
            <a:spAutoFit/>
          </a:bodyPr>
          <a:lstStyle/>
          <a:p>
            <a:pPr algn="l">
              <a:lnSpc>
                <a:spcPts val="6972"/>
              </a:lnSpc>
            </a:pPr>
            <a:r>
              <a:rPr lang="en-US" sz="5810" u="sng" dirty="0">
                <a:solidFill>
                  <a:srgbClr val="000000"/>
                </a:solidFill>
                <a:latin typeface="Archivo Black"/>
                <a:ea typeface="Archivo Black"/>
                <a:cs typeface="Archivo Black"/>
                <a:sym typeface="Archivo Black"/>
              </a:rPr>
              <a:t>Role of AI &amp; Efficiency Improvement</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08/11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874635" y="713788"/>
            <a:ext cx="13223880" cy="835550"/>
          </a:xfrm>
          <a:prstGeom prst="rect">
            <a:avLst/>
          </a:prstGeom>
        </p:spPr>
        <p:txBody>
          <a:bodyPr lIns="0" tIns="0" rIns="0" bIns="0" rtlCol="0" anchor="t">
            <a:spAutoFit/>
          </a:bodyPr>
          <a:lstStyle/>
          <a:p>
            <a:pPr algn="l">
              <a:lnSpc>
                <a:spcPts val="6972"/>
              </a:lnSpc>
            </a:pPr>
            <a:r>
              <a:rPr lang="en-US" sz="4400" b="1" u="sng" dirty="0">
                <a:solidFill>
                  <a:srgbClr val="000000"/>
                </a:solidFill>
                <a:latin typeface="Times New Roman" panose="02020603050405020304" pitchFamily="18" charset="0"/>
                <a:ea typeface="Archivo Black"/>
                <a:cs typeface="Times New Roman" panose="02020603050405020304" pitchFamily="18" charset="0"/>
                <a:sym typeface="Archivo Black"/>
              </a:rPr>
              <a:t>Expected Impact</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09/11</a:t>
            </a:r>
          </a:p>
        </p:txBody>
      </p:sp>
      <p:sp>
        <p:nvSpPr>
          <p:cNvPr id="8" name="TextBox 8"/>
          <p:cNvSpPr txBox="1"/>
          <p:nvPr/>
        </p:nvSpPr>
        <p:spPr>
          <a:xfrm>
            <a:off x="894891" y="6604089"/>
            <a:ext cx="9311970" cy="1659109"/>
          </a:xfrm>
          <a:prstGeom prst="rect">
            <a:avLst/>
          </a:prstGeom>
        </p:spPr>
        <p:txBody>
          <a:bodyPr wrap="square" lIns="0" tIns="0" rIns="0" bIns="0" rtlCol="0" anchor="t">
            <a:spAutoFit/>
          </a:bodyPr>
          <a:lstStyle/>
          <a:p>
            <a:pPr>
              <a:lnSpc>
                <a:spcPts val="3338"/>
              </a:lnSpc>
              <a:spcBef>
                <a:spcPct val="0"/>
              </a:spcBef>
            </a:pPr>
            <a:r>
              <a:rPr lang="en-US" sz="2400" b="1" u="sng" spc="93" dirty="0">
                <a:solidFill>
                  <a:srgbClr val="000000"/>
                </a:solidFill>
                <a:latin typeface="Times New Roman"/>
                <a:ea typeface="Times New Roman"/>
                <a:cs typeface="Times New Roman"/>
                <a:sym typeface="Times New Roman"/>
              </a:rPr>
              <a:t>FUTURE SCOPE</a:t>
            </a:r>
          </a:p>
          <a:p>
            <a:pPr>
              <a:lnSpc>
                <a:spcPts val="3338"/>
              </a:lnSpc>
              <a:spcBef>
                <a:spcPct val="0"/>
              </a:spcBef>
            </a:pPr>
            <a:endParaRPr lang="en-US" sz="2400" b="1" u="sng" spc="93" dirty="0">
              <a:solidFill>
                <a:srgbClr val="000000"/>
              </a:solidFill>
              <a:latin typeface="Times New Roman"/>
              <a:ea typeface="Times New Roman"/>
              <a:cs typeface="Times New Roman"/>
              <a:sym typeface="Times New Roman"/>
            </a:endParaRPr>
          </a:p>
          <a:p>
            <a:pPr>
              <a:lnSpc>
                <a:spcPts val="3338"/>
              </a:lnSpc>
              <a:spcBef>
                <a:spcPct val="0"/>
              </a:spcBef>
            </a:pPr>
            <a:endParaRPr lang="en-US" sz="2400" b="1" u="sng" spc="93" dirty="0">
              <a:solidFill>
                <a:srgbClr val="000000"/>
              </a:solidFill>
              <a:latin typeface="Times New Roman"/>
              <a:ea typeface="Times New Roman"/>
              <a:cs typeface="Times New Roman"/>
              <a:sym typeface="Times New Roman"/>
            </a:endParaRPr>
          </a:p>
          <a:p>
            <a:pPr>
              <a:lnSpc>
                <a:spcPts val="3338"/>
              </a:lnSpc>
              <a:spcBef>
                <a:spcPct val="0"/>
              </a:spcBef>
            </a:pPr>
            <a:endParaRPr lang="en-US" sz="2400" b="1" u="sng" spc="93" dirty="0">
              <a:solidFill>
                <a:srgbClr val="000000"/>
              </a:solidFill>
              <a:latin typeface="Times New Roman"/>
              <a:ea typeface="Times New Roman"/>
              <a:cs typeface="Times New Roman"/>
              <a:sym typeface="Times New Roman"/>
            </a:endParaRPr>
          </a:p>
        </p:txBody>
      </p:sp>
      <p:sp>
        <p:nvSpPr>
          <p:cNvPr id="9" name="TextBox 9"/>
          <p:cNvSpPr txBox="1"/>
          <p:nvPr/>
        </p:nvSpPr>
        <p:spPr>
          <a:xfrm>
            <a:off x="874636" y="1750039"/>
            <a:ext cx="8269364" cy="2658869"/>
          </a:xfrm>
          <a:prstGeom prst="rect">
            <a:avLst/>
          </a:prstGeom>
        </p:spPr>
        <p:txBody>
          <a:bodyPr wrap="square" lIns="0" tIns="0" rIns="0" bIns="0" rtlCol="0" anchor="t">
            <a:spAutoFit/>
          </a:bodyPr>
          <a:lstStyle/>
          <a:p>
            <a:pPr algn="just">
              <a:lnSpc>
                <a:spcPts val="3338"/>
              </a:lnSpc>
              <a:spcBef>
                <a:spcPct val="0"/>
              </a:spcBef>
            </a:pPr>
            <a:r>
              <a:rPr lang="en-US" sz="2400" b="1" u="sng" spc="93" dirty="0">
                <a:solidFill>
                  <a:srgbClr val="000000"/>
                </a:solidFill>
                <a:latin typeface="Times New Roman"/>
                <a:ea typeface="Times New Roman"/>
                <a:cs typeface="Times New Roman"/>
                <a:sym typeface="Times New Roman"/>
              </a:rPr>
              <a:t>USER IMPACT</a:t>
            </a:r>
          </a:p>
          <a:p>
            <a:pPr marL="342900" indent="-342900" algn="just">
              <a:buFont typeface="Wingdings" panose="05000000000000000000" pitchFamily="2" charset="2"/>
              <a:buChar char="Ø"/>
            </a:pPr>
            <a:r>
              <a:rPr lang="en-US" sz="2400" dirty="0"/>
              <a:t>Increased safety for pregnant women</a:t>
            </a:r>
          </a:p>
          <a:p>
            <a:pPr marL="342900" indent="-342900" algn="just">
              <a:buFont typeface="Wingdings" panose="05000000000000000000" pitchFamily="2" charset="2"/>
              <a:buChar char="Ø"/>
            </a:pPr>
            <a:r>
              <a:rPr lang="en-US" sz="2400" dirty="0"/>
              <a:t>Reduced stress and uncertainty during pregnancy</a:t>
            </a:r>
          </a:p>
          <a:p>
            <a:pPr marL="342900" indent="-342900" algn="just">
              <a:buFont typeface="Wingdings" panose="05000000000000000000" pitchFamily="2" charset="2"/>
              <a:buChar char="Ø"/>
            </a:pPr>
            <a:r>
              <a:rPr lang="en-US" sz="2400" dirty="0"/>
              <a:t>Immediate alerts for timely medical care</a:t>
            </a:r>
          </a:p>
          <a:p>
            <a:pPr marL="342900" indent="-342900" algn="just">
              <a:buFont typeface="Wingdings" panose="05000000000000000000" pitchFamily="2" charset="2"/>
              <a:buChar char="Ø"/>
            </a:pPr>
            <a:r>
              <a:rPr lang="en-US" sz="2400" dirty="0"/>
              <a:t>Continuous monitoring without frequent hospital visits</a:t>
            </a:r>
          </a:p>
          <a:p>
            <a:pPr marL="342900" indent="-342900" algn="just">
              <a:buFont typeface="Wingdings" panose="05000000000000000000" pitchFamily="2" charset="2"/>
              <a:buChar char="Ø"/>
            </a:pPr>
            <a:r>
              <a:rPr lang="en-US" sz="2400" dirty="0"/>
              <a:t>Greater confidence for families and caregivers</a:t>
            </a:r>
          </a:p>
          <a:p>
            <a:pPr algn="just">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
        <p:nvSpPr>
          <p:cNvPr id="10" name="TextBox 10"/>
          <p:cNvSpPr txBox="1"/>
          <p:nvPr/>
        </p:nvSpPr>
        <p:spPr>
          <a:xfrm>
            <a:off x="874635" y="4168526"/>
            <a:ext cx="7704708" cy="846386"/>
          </a:xfrm>
          <a:prstGeom prst="rect">
            <a:avLst/>
          </a:prstGeom>
        </p:spPr>
        <p:txBody>
          <a:bodyPr wrap="square" lIns="0" tIns="0" rIns="0" bIns="0" rtlCol="0" anchor="t">
            <a:spAutoFit/>
          </a:bodyPr>
          <a:lstStyle/>
          <a:p>
            <a:pPr>
              <a:lnSpc>
                <a:spcPts val="3338"/>
              </a:lnSpc>
              <a:spcBef>
                <a:spcPct val="0"/>
              </a:spcBef>
            </a:pPr>
            <a:r>
              <a:rPr lang="en-US" sz="2400" b="1" u="sng" spc="93" dirty="0">
                <a:solidFill>
                  <a:srgbClr val="000000"/>
                </a:solidFill>
                <a:latin typeface="Times New Roman"/>
                <a:ea typeface="Times New Roman"/>
                <a:cs typeface="Times New Roman"/>
                <a:sym typeface="Times New Roman"/>
              </a:rPr>
              <a:t>SOCIAL IMPACT</a:t>
            </a:r>
          </a:p>
          <a:p>
            <a:pPr>
              <a:lnSpc>
                <a:spcPts val="3338"/>
              </a:lnSpc>
              <a:spcBef>
                <a:spcPct val="0"/>
              </a:spcBef>
            </a:pPr>
            <a:endParaRPr lang="en-US" sz="2800" b="1" u="sng" spc="93" dirty="0">
              <a:solidFill>
                <a:srgbClr val="000000"/>
              </a:solidFill>
              <a:latin typeface="Times New Roman"/>
              <a:ea typeface="Times New Roman"/>
              <a:cs typeface="Times New Roman"/>
              <a:sym typeface="Times New Roman"/>
            </a:endParaRPr>
          </a:p>
        </p:txBody>
      </p:sp>
      <p:sp>
        <p:nvSpPr>
          <p:cNvPr id="12" name="Rectangle 2">
            <a:extLst>
              <a:ext uri="{FF2B5EF4-FFF2-40B4-BE49-F238E27FC236}">
                <a16:creationId xmlns:a16="http://schemas.microsoft.com/office/drawing/2014/main" id="{C0D6EF15-4E58-426F-D398-DF7BFB32B4DE}"/>
              </a:ext>
            </a:extLst>
          </p:cNvPr>
          <p:cNvSpPr>
            <a:spLocks noChangeArrowheads="1"/>
          </p:cNvSpPr>
          <p:nvPr/>
        </p:nvSpPr>
        <p:spPr bwMode="auto">
          <a:xfrm>
            <a:off x="852449" y="4285305"/>
            <a:ext cx="6224781"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Decrease in maternal mortality rates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Strengthened rural healthcare systems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healthcare burden on hospitals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equitable access to maternal care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for national maternal health programs</a:t>
            </a:r>
          </a:p>
        </p:txBody>
      </p:sp>
      <p:sp>
        <p:nvSpPr>
          <p:cNvPr id="13" name="Rectangle 3">
            <a:extLst>
              <a:ext uri="{FF2B5EF4-FFF2-40B4-BE49-F238E27FC236}">
                <a16:creationId xmlns:a16="http://schemas.microsoft.com/office/drawing/2014/main" id="{A5307213-92D0-D6F0-9F58-31B308A10848}"/>
              </a:ext>
            </a:extLst>
          </p:cNvPr>
          <p:cNvSpPr>
            <a:spLocks noChangeArrowheads="1"/>
          </p:cNvSpPr>
          <p:nvPr/>
        </p:nvSpPr>
        <p:spPr bwMode="auto">
          <a:xfrm>
            <a:off x="852448" y="6942127"/>
            <a:ext cx="722475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Expansion to newborn monitoring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AI models for personalized pregnancy care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government health databases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telemedicine platforms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16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1026771" y="978302"/>
            <a:ext cx="13223880" cy="835550"/>
          </a:xfrm>
          <a:prstGeom prst="rect">
            <a:avLst/>
          </a:prstGeom>
        </p:spPr>
        <p:txBody>
          <a:bodyPr lIns="0" tIns="0" rIns="0" bIns="0" rtlCol="0" anchor="t">
            <a:spAutoFit/>
          </a:bodyPr>
          <a:lstStyle/>
          <a:p>
            <a:pPr algn="l">
              <a:lnSpc>
                <a:spcPts val="6972"/>
              </a:lnSpc>
            </a:pPr>
            <a:r>
              <a:rPr lang="en-US" sz="4800" b="1" u="sng" dirty="0">
                <a:solidFill>
                  <a:srgbClr val="000000"/>
                </a:solidFill>
                <a:latin typeface="Times New Roman" panose="02020603050405020304" pitchFamily="18" charset="0"/>
                <a:ea typeface="Archivo Black"/>
                <a:cs typeface="Times New Roman" panose="02020603050405020304" pitchFamily="18" charset="0"/>
                <a:sym typeface="Archivo Black"/>
              </a:rPr>
              <a:t>Conclusion</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10/11</a:t>
            </a:r>
          </a:p>
        </p:txBody>
      </p:sp>
      <p:sp>
        <p:nvSpPr>
          <p:cNvPr id="10" name="Rectangle 1">
            <a:extLst>
              <a:ext uri="{FF2B5EF4-FFF2-40B4-BE49-F238E27FC236}">
                <a16:creationId xmlns:a16="http://schemas.microsoft.com/office/drawing/2014/main" id="{20A126FE-9F08-532F-AB7A-91ACC4FA4F43}"/>
              </a:ext>
            </a:extLst>
          </p:cNvPr>
          <p:cNvSpPr>
            <a:spLocks noChangeArrowheads="1"/>
          </p:cNvSpPr>
          <p:nvPr/>
        </p:nvSpPr>
        <p:spPr bwMode="auto">
          <a:xfrm>
            <a:off x="874635" y="1813852"/>
            <a:ext cx="13547818"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dirty="0">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Addresses lack of continuous maternal monitoring in rural areas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AI to predict complications before emergencies occur</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embedded systems, IoT, and real-time analytics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proactive rather than reactive healthcare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maternal and infant mortality risk</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Affordable and scalable for rural deployment</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healthcare workers with data-driven insights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Strengthens overall rural healthcare infrastructure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6" name="Freeform 6"/>
          <p:cNvSpPr/>
          <p:nvPr/>
        </p:nvSpPr>
        <p:spPr>
          <a:xfrm>
            <a:off x="6622981" y="152518"/>
            <a:ext cx="5042037" cy="2261975"/>
          </a:xfrm>
          <a:custGeom>
            <a:avLst/>
            <a:gdLst/>
            <a:ahLst/>
            <a:cxnLst/>
            <a:rect l="l" t="t" r="r" b="b"/>
            <a:pathLst>
              <a:path w="5042037" h="2261975">
                <a:moveTo>
                  <a:pt x="0" y="0"/>
                </a:moveTo>
                <a:lnTo>
                  <a:pt x="5042038" y="0"/>
                </a:lnTo>
                <a:lnTo>
                  <a:pt x="5042038" y="2261976"/>
                </a:lnTo>
                <a:lnTo>
                  <a:pt x="0" y="2261976"/>
                </a:lnTo>
                <a:lnTo>
                  <a:pt x="0" y="0"/>
                </a:lnTo>
                <a:close/>
              </a:path>
            </a:pathLst>
          </a:custGeom>
          <a:blipFill>
            <a:blip r:embed="rId3"/>
            <a:stretch>
              <a:fillRect t="-25477"/>
            </a:stretch>
          </a:blipFill>
        </p:spPr>
      </p:sp>
      <p:sp>
        <p:nvSpPr>
          <p:cNvPr id="7" name="Freeform 7"/>
          <p:cNvSpPr/>
          <p:nvPr/>
        </p:nvSpPr>
        <p:spPr>
          <a:xfrm>
            <a:off x="-609600" y="2508616"/>
            <a:ext cx="5859865" cy="6297243"/>
          </a:xfrm>
          <a:custGeom>
            <a:avLst/>
            <a:gdLst/>
            <a:ahLst/>
            <a:cxnLst/>
            <a:rect l="l" t="t" r="r" b="b"/>
            <a:pathLst>
              <a:path w="5859865" h="6297243">
                <a:moveTo>
                  <a:pt x="0" y="0"/>
                </a:moveTo>
                <a:lnTo>
                  <a:pt x="5859865" y="0"/>
                </a:lnTo>
                <a:lnTo>
                  <a:pt x="5859865" y="6297243"/>
                </a:lnTo>
                <a:lnTo>
                  <a:pt x="0" y="6297243"/>
                </a:lnTo>
                <a:lnTo>
                  <a:pt x="0" y="0"/>
                </a:lnTo>
                <a:close/>
              </a:path>
            </a:pathLst>
          </a:custGeom>
          <a:blipFill>
            <a:blip r:embed="rId4"/>
            <a:stretch>
              <a:fillRect l="-3731" r="-3731"/>
            </a:stretch>
          </a:blipFill>
        </p:spPr>
      </p:sp>
      <p:sp>
        <p:nvSpPr>
          <p:cNvPr id="8" name="TextBox 8"/>
          <p:cNvSpPr txBox="1"/>
          <p:nvPr/>
        </p:nvSpPr>
        <p:spPr>
          <a:xfrm>
            <a:off x="-149496" y="1283505"/>
            <a:ext cx="18122584" cy="1788651"/>
          </a:xfrm>
          <a:prstGeom prst="rect">
            <a:avLst/>
          </a:prstGeom>
        </p:spPr>
        <p:txBody>
          <a:bodyPr lIns="0" tIns="0" rIns="0" bIns="0" rtlCol="0" anchor="t">
            <a:spAutoFit/>
          </a:bodyPr>
          <a:lstStyle/>
          <a:p>
            <a:pPr algn="ctr">
              <a:lnSpc>
                <a:spcPts val="14537"/>
              </a:lnSpc>
            </a:pPr>
            <a:r>
              <a:rPr lang="en-US" sz="10383" dirty="0">
                <a:solidFill>
                  <a:srgbClr val="000000"/>
                </a:solidFill>
                <a:latin typeface="Archivo Black"/>
                <a:ea typeface="Archivo Black"/>
                <a:cs typeface="Archivo Black"/>
                <a:sym typeface="Archivo Black"/>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841</Words>
  <Application>Microsoft Office PowerPoint</Application>
  <PresentationFormat>Custom</PresentationFormat>
  <Paragraphs>131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Garet Bold</vt:lpstr>
      <vt:lpstr>Calibri</vt:lpstr>
      <vt:lpstr>Times New Roman</vt:lpstr>
      <vt:lpstr>Wingdings</vt:lpstr>
      <vt:lpstr>Archivo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 Innovates-ppt template</dc:title>
  <dc:creator>Uroozakhan Inamdar</dc:creator>
  <cp:lastModifiedBy>Varshitha ravi</cp:lastModifiedBy>
  <cp:revision>7</cp:revision>
  <dcterms:created xsi:type="dcterms:W3CDTF">2006-08-16T00:00:00Z</dcterms:created>
  <dcterms:modified xsi:type="dcterms:W3CDTF">2026-02-26T09:59:38Z</dcterms:modified>
  <dc:identifier>DAHCWuZy3t8</dc:identifier>
</cp:coreProperties>
</file>